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62005"/>
  </p:normalViewPr>
  <p:slideViewPr>
    <p:cSldViewPr snapToGrid="0" snapToObjects="1">
      <p:cViewPr varScale="1">
        <p:scale>
          <a:sx n="82" d="100"/>
          <a:sy n="82" d="100"/>
        </p:scale>
        <p:origin x="26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51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LIP-FEF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0.0355</a:t>
            </a:r>
          </a:p>
          <a:p>
            <a:r>
              <a:t>  F(1, 25) = 0.9196</a:t>
            </a:r>
          </a:p>
          <a:p>
            <a:r>
              <a:t>  p-value = 0.346755</a:t>
            </a:r>
          </a:p>
          <a:p>
            <a:r>
              <a:t>  y = 0.0066x + 0.1763</a:t>
            </a:r>
          </a:p>
          <a:p>
            <a:r>
              <a:t>  AIC = -82.29</a:t>
            </a:r>
          </a:p>
          <a:p>
            <a:r>
              <a:t>  BIC = -79.69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0.1824</a:t>
            </a:r>
          </a:p>
          <a:p>
            <a:r>
              <a:t>  F(2, 24) = 2.6763</a:t>
            </a:r>
          </a:p>
          <a:p>
            <a:r>
              <a:t>  p-value = 0.089285</a:t>
            </a:r>
          </a:p>
          <a:p>
            <a:r>
              <a:t>  y = -0.002416x² + 0.0597x + 0.0191</a:t>
            </a:r>
          </a:p>
          <a:p>
            <a:r>
              <a:t>  AIC = -84.75</a:t>
            </a:r>
          </a:p>
          <a:p>
            <a:r>
              <a:t>  BIC = -80.86</a:t>
            </a:r>
          </a:p>
          <a:p>
            <a:endParaRPr/>
          </a:p>
          <a:p>
            <a:r>
              <a:t>  Likelihood ratio test vs. linear: p = 0.034688 * (significantly better)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LIP-MT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0.1438</a:t>
            </a:r>
          </a:p>
          <a:p>
            <a:r>
              <a:t>  F(1, 25) = 4.1990</a:t>
            </a:r>
          </a:p>
          <a:p>
            <a:r>
              <a:t>  p-value = 0.051080</a:t>
            </a:r>
          </a:p>
          <a:p>
            <a:r>
              <a:t>  y = -0.0117x + 0.5904</a:t>
            </a:r>
          </a:p>
          <a:p>
            <a:r>
              <a:t>  AIC = -92.28</a:t>
            </a:r>
          </a:p>
          <a:p>
            <a:r>
              <a:t>  BIC = -89.69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0.1441</a:t>
            </a:r>
          </a:p>
          <a:p>
            <a:r>
              <a:t>  F(2, 24) = 2.0207</a:t>
            </a:r>
          </a:p>
          <a:p>
            <a:r>
              <a:t>  p-value = 0.154507</a:t>
            </a:r>
          </a:p>
          <a:p>
            <a:r>
              <a:t>  y = 0.000099x² + -0.0139x + 0.5968</a:t>
            </a:r>
          </a:p>
          <a:p>
            <a:r>
              <a:t>  AIC = -90.29</a:t>
            </a:r>
          </a:p>
          <a:p>
            <a:r>
              <a:t>  BIC = -86.40</a:t>
            </a:r>
          </a:p>
          <a:p>
            <a:endParaRPr/>
          </a:p>
          <a:p>
            <a:r>
              <a:t>  Likelihood ratio test vs. linear: p = 0.920665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FEF-V4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0.0234</a:t>
            </a:r>
          </a:p>
          <a:p>
            <a:r>
              <a:t>  F(1, 25) = 0.5979</a:t>
            </a:r>
          </a:p>
          <a:p>
            <a:r>
              <a:t>  p-value = 0.446648</a:t>
            </a:r>
          </a:p>
          <a:p>
            <a:r>
              <a:t>  y = 0.0051x + 0.2155</a:t>
            </a:r>
          </a:p>
          <a:p>
            <a:r>
              <a:t>  AIC = -84.91</a:t>
            </a:r>
          </a:p>
          <a:p>
            <a:r>
              <a:t>  BIC = -82.31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0.1156</a:t>
            </a:r>
          </a:p>
          <a:p>
            <a:r>
              <a:t>  F(2, 24) = 1.5686</a:t>
            </a:r>
          </a:p>
          <a:p>
            <a:r>
              <a:t>  p-value = 0.228963</a:t>
            </a:r>
          </a:p>
          <a:p>
            <a:r>
              <a:t>  y = -0.001813x² + 0.0449x + 0.0976</a:t>
            </a:r>
          </a:p>
          <a:p>
            <a:r>
              <a:t>  AIC = -85.58</a:t>
            </a:r>
          </a:p>
          <a:p>
            <a:r>
              <a:t>  BIC = -81.70</a:t>
            </a:r>
          </a:p>
          <a:p>
            <a:endParaRPr/>
          </a:p>
          <a:p>
            <a:r>
              <a:t>  Likelihood ratio test vs. linear: p = 0.101689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LIP-V4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0.0317</a:t>
            </a:r>
          </a:p>
          <a:p>
            <a:r>
              <a:t>  F(1, 25) = 0.8179</a:t>
            </a:r>
          </a:p>
          <a:p>
            <a:r>
              <a:t>  p-value = 0.374437</a:t>
            </a:r>
          </a:p>
          <a:p>
            <a:r>
              <a:t>  y = -0.0066x + 0.5186</a:t>
            </a:r>
          </a:p>
          <a:p>
            <a:r>
              <a:t>  AIC = -79.05</a:t>
            </a:r>
          </a:p>
          <a:p>
            <a:r>
              <a:t>  BIC = -76.46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0.0482</a:t>
            </a:r>
          </a:p>
          <a:p>
            <a:r>
              <a:t>  F(2, 24) = 0.6077</a:t>
            </a:r>
          </a:p>
          <a:p>
            <a:r>
              <a:t>  p-value = 0.552766</a:t>
            </a:r>
          </a:p>
          <a:p>
            <a:r>
              <a:t>  y = -0.000859x² + 0.0123x + 0.4627</a:t>
            </a:r>
          </a:p>
          <a:p>
            <a:r>
              <a:t>  AIC = -77.52</a:t>
            </a:r>
          </a:p>
          <a:p>
            <a:r>
              <a:t>  BIC = -73.63</a:t>
            </a:r>
          </a:p>
          <a:p>
            <a:endParaRPr/>
          </a:p>
          <a:p>
            <a:r>
              <a:t>  Likelihood ratio test vs. linear: p = 0.495440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V1-V2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0.4159</a:t>
            </a:r>
          </a:p>
          <a:p>
            <a:r>
              <a:t>  F(1, 25) = 17.8014</a:t>
            </a:r>
          </a:p>
          <a:p>
            <a:r>
              <a:t>  p-value = 0.000282 ***</a:t>
            </a:r>
          </a:p>
          <a:p>
            <a:r>
              <a:t>  y = -0.0234x + 0.8115</a:t>
            </a:r>
          </a:p>
          <a:p>
            <a:r>
              <a:t>  AIC = -93.74</a:t>
            </a:r>
          </a:p>
          <a:p>
            <a:r>
              <a:t>  BIC = -91.15</a:t>
            </a:r>
          </a:p>
          <a:p>
            <a:endParaRPr/>
          </a:p>
          <a:p>
            <a:r>
              <a:t>QUADRATIC MODEL:</a:t>
            </a:r>
          </a:p>
          <a:p>
            <a:r>
              <a:t>  R² = 0.4192</a:t>
            </a:r>
          </a:p>
          <a:p>
            <a:r>
              <a:t>  F(2, 24) = 8.6607</a:t>
            </a:r>
          </a:p>
          <a:p>
            <a:r>
              <a:t>  p-value = 0.001474 **</a:t>
            </a:r>
          </a:p>
          <a:p>
            <a:r>
              <a:t>  y = 0.000375x² + -0.0317x + 0.8359</a:t>
            </a:r>
          </a:p>
          <a:p>
            <a:r>
              <a:t>  AIC = -91.89</a:t>
            </a:r>
          </a:p>
          <a:p>
            <a:r>
              <a:t>  BIC = -88.00</a:t>
            </a:r>
          </a:p>
          <a:p>
            <a:endParaRPr/>
          </a:p>
          <a:p>
            <a:r>
              <a:t>  Likelihood ratio test vs. linear: p = 0.696604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significant model (by R²): QUADRATIC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V2-V4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0.1962</a:t>
            </a:r>
          </a:p>
          <a:p>
            <a:r>
              <a:t>  F(1, 25) = 6.1010</a:t>
            </a:r>
          </a:p>
          <a:p>
            <a:r>
              <a:t>  p-value = 0.020686 *</a:t>
            </a:r>
          </a:p>
          <a:p>
            <a:r>
              <a:t>  y = -0.0131x + 0.7747</a:t>
            </a:r>
          </a:p>
          <a:p>
            <a:r>
              <a:t>  AIC = -96.24</a:t>
            </a:r>
          </a:p>
          <a:p>
            <a:r>
              <a:t>  BIC = -93.65</a:t>
            </a:r>
          </a:p>
          <a:p>
            <a:endParaRPr/>
          </a:p>
          <a:p>
            <a:r>
              <a:t>QUADRATIC MODEL:</a:t>
            </a:r>
          </a:p>
          <a:p>
            <a:r>
              <a:t>  R² = 0.2015</a:t>
            </a:r>
          </a:p>
          <a:p>
            <a:r>
              <a:t>  F(2, 24) = 3.0274</a:t>
            </a:r>
          </a:p>
          <a:p>
            <a:r>
              <a:t>  p-value = 0.067229</a:t>
            </a:r>
          </a:p>
          <a:p>
            <a:r>
              <a:t>  y = -0.000388x² + -0.0046x + 0.7495</a:t>
            </a:r>
          </a:p>
          <a:p>
            <a:r>
              <a:t>  AIC = -94.42</a:t>
            </a:r>
          </a:p>
          <a:p>
            <a:r>
              <a:t>  BIC = -90.53</a:t>
            </a:r>
          </a:p>
          <a:p>
            <a:endParaRPr/>
          </a:p>
          <a:p>
            <a:r>
              <a:t>  Likelihood ratio test vs. linear: p = 0.672796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significant model (by R²): LINEAR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V4-V4t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0.0030</a:t>
            </a:r>
          </a:p>
          <a:p>
            <a:r>
              <a:t>  F(1, 25) = 0.0741</a:t>
            </a:r>
          </a:p>
          <a:p>
            <a:r>
              <a:t>  p-value = 0.787672</a:t>
            </a:r>
          </a:p>
          <a:p>
            <a:r>
              <a:t>  y = -0.0017x + 0.4842</a:t>
            </a:r>
          </a:p>
          <a:p>
            <a:r>
              <a:t>  AIC = -88.45</a:t>
            </a:r>
          </a:p>
          <a:p>
            <a:r>
              <a:t>  BIC = -85.86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0.0039</a:t>
            </a:r>
          </a:p>
          <a:p>
            <a:r>
              <a:t>  F(2, 24) = 0.0471</a:t>
            </a:r>
          </a:p>
          <a:p>
            <a:r>
              <a:t>  p-value = 0.954126</a:t>
            </a:r>
          </a:p>
          <a:p>
            <a:r>
              <a:t>  y = 0.000170x² + -0.0054x + 0.4952</a:t>
            </a:r>
          </a:p>
          <a:p>
            <a:r>
              <a:t>  AIC = -86.48</a:t>
            </a:r>
          </a:p>
          <a:p>
            <a:r>
              <a:t>  BIC = -82.59</a:t>
            </a:r>
          </a:p>
          <a:p>
            <a:endParaRPr/>
          </a:p>
          <a:p>
            <a:r>
              <a:t>  Likelihood ratio test vs. linear: p = 0.872552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MT-MST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0.1430</a:t>
            </a:r>
          </a:p>
          <a:p>
            <a:r>
              <a:t>  F(1, 25) = 4.1703</a:t>
            </a:r>
          </a:p>
          <a:p>
            <a:r>
              <a:t>  p-value = 0.051823</a:t>
            </a:r>
          </a:p>
          <a:p>
            <a:r>
              <a:t>  y = -0.0102x + 0.7211</a:t>
            </a:r>
          </a:p>
          <a:p>
            <a:r>
              <a:t>  AIC = -99.32</a:t>
            </a:r>
          </a:p>
          <a:p>
            <a:r>
              <a:t>  BIC = -96.73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0.1919</a:t>
            </a:r>
          </a:p>
          <a:p>
            <a:r>
              <a:t>  F(2, 24) = 2.8490</a:t>
            </a:r>
          </a:p>
          <a:p>
            <a:r>
              <a:t>  p-value = 0.077590</a:t>
            </a:r>
          </a:p>
          <a:p>
            <a:r>
              <a:t>  y = 0.001079x² + -0.0340x + 0.7912</a:t>
            </a:r>
          </a:p>
          <a:p>
            <a:r>
              <a:t>  AIC = -98.91</a:t>
            </a:r>
          </a:p>
          <a:p>
            <a:r>
              <a:t>  BIC = -95.02</a:t>
            </a:r>
          </a:p>
          <a:p>
            <a:endParaRPr/>
          </a:p>
          <a:p>
            <a:r>
              <a:t>  Likelihood ratio test vs. linear: p = 0.207850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V4-MT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0.0124</a:t>
            </a:r>
          </a:p>
          <a:p>
            <a:r>
              <a:t>  F(1, 25) = 0.3128</a:t>
            </a:r>
          </a:p>
          <a:p>
            <a:r>
              <a:t>  p-value = 0.580938</a:t>
            </a:r>
          </a:p>
          <a:p>
            <a:r>
              <a:t>  y = -0.0032x + 0.5392</a:t>
            </a:r>
          </a:p>
          <a:p>
            <a:r>
              <a:t>  AIC = -92.25</a:t>
            </a:r>
          </a:p>
          <a:p>
            <a:r>
              <a:t>  BIC = -89.66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0.0456</a:t>
            </a:r>
          </a:p>
          <a:p>
            <a:r>
              <a:t>  F(2, 24) = 0.5729</a:t>
            </a:r>
          </a:p>
          <a:p>
            <a:r>
              <a:t>  p-value = 0.571437</a:t>
            </a:r>
          </a:p>
          <a:p>
            <a:r>
              <a:t>  y = -0.000944x² + 0.0176x + 0.4778</a:t>
            </a:r>
          </a:p>
          <a:p>
            <a:r>
              <a:t>  AIC = -91.17</a:t>
            </a:r>
          </a:p>
          <a:p>
            <a:r>
              <a:t>  BIC = -87.29</a:t>
            </a:r>
          </a:p>
          <a:p>
            <a:endParaRPr/>
          </a:p>
          <a:p>
            <a:r>
              <a:t>  Likelihood ratio test vs. linear: p = 0.336593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FEF-V1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0.0308</a:t>
            </a:r>
          </a:p>
          <a:p>
            <a:r>
              <a:t>  F(1, 25) = 0.7953</a:t>
            </a:r>
          </a:p>
          <a:p>
            <a:r>
              <a:t>  p-value = 0.381013</a:t>
            </a:r>
          </a:p>
          <a:p>
            <a:r>
              <a:t>  y = -0.0056x + 0.1574</a:t>
            </a:r>
          </a:p>
          <a:p>
            <a:r>
              <a:t>  AIC = -86.63</a:t>
            </a:r>
          </a:p>
          <a:p>
            <a:r>
              <a:t>  BIC = -84.04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0.0582</a:t>
            </a:r>
          </a:p>
          <a:p>
            <a:r>
              <a:t>  F(2, 24) = 0.7418</a:t>
            </a:r>
          </a:p>
          <a:p>
            <a:r>
              <a:t>  p-value = 0.486854</a:t>
            </a:r>
          </a:p>
          <a:p>
            <a:r>
              <a:t>  y = -0.000960x² + 0.0155x + 0.0949</a:t>
            </a:r>
          </a:p>
          <a:p>
            <a:r>
              <a:t>  AIC = -85.41</a:t>
            </a:r>
          </a:p>
          <a:p>
            <a:r>
              <a:t>  BIC = -81.52</a:t>
            </a:r>
          </a:p>
          <a:p>
            <a:endParaRPr/>
          </a:p>
          <a:p>
            <a:r>
              <a:t>  Likelihood ratio test vs. linear: p = 0.378980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FEF-V2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0.0118</a:t>
            </a:r>
          </a:p>
          <a:p>
            <a:r>
              <a:t>  F(1, 25) = 0.2974</a:t>
            </a:r>
          </a:p>
          <a:p>
            <a:r>
              <a:t>  p-value = 0.590336</a:t>
            </a:r>
          </a:p>
          <a:p>
            <a:r>
              <a:t>  y = 0.0035x + 0.1686</a:t>
            </a:r>
          </a:p>
          <a:p>
            <a:r>
              <a:t>  AIC = -85.29</a:t>
            </a:r>
          </a:p>
          <a:p>
            <a:r>
              <a:t>  BIC = -82.70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0.0398</a:t>
            </a:r>
          </a:p>
          <a:p>
            <a:r>
              <a:t>  F(2, 24) = 0.4972</a:t>
            </a:r>
          </a:p>
          <a:p>
            <a:r>
              <a:t>  p-value = 0.614336</a:t>
            </a:r>
          </a:p>
          <a:p>
            <a:r>
              <a:t>  y = -0.000986x² + 0.0252x + 0.1044</a:t>
            </a:r>
          </a:p>
          <a:p>
            <a:r>
              <a:t>  AIC = -84.07</a:t>
            </a:r>
          </a:p>
          <a:p>
            <a:r>
              <a:t>  BIC = -80.18</a:t>
            </a:r>
          </a:p>
          <a:p>
            <a:endParaRPr/>
          </a:p>
          <a:p>
            <a:r>
              <a:t>  Likelihood ratio test vs. linear: p = 0.378088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FEF-MT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0.0446</a:t>
            </a:r>
          </a:p>
          <a:p>
            <a:r>
              <a:t>  F(1, 25) = 1.1664</a:t>
            </a:r>
          </a:p>
          <a:p>
            <a:r>
              <a:t>  p-value = 0.290447</a:t>
            </a:r>
          </a:p>
          <a:p>
            <a:r>
              <a:t>  y = 0.0052x + 0.1814</a:t>
            </a:r>
          </a:p>
          <a:p>
            <a:r>
              <a:t>  AIC = -101.55</a:t>
            </a:r>
          </a:p>
          <a:p>
            <a:r>
              <a:t>  BIC = -98.96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0.1294</a:t>
            </a:r>
          </a:p>
          <a:p>
            <a:r>
              <a:t>  F(2, 24) = 1.7838</a:t>
            </a:r>
          </a:p>
          <a:p>
            <a:r>
              <a:t>  p-value = 0.189564</a:t>
            </a:r>
          </a:p>
          <a:p>
            <a:r>
              <a:t>  y = -0.001291x² + 0.0336x + 0.0974</a:t>
            </a:r>
          </a:p>
          <a:p>
            <a:r>
              <a:t>  AIC = -102.06</a:t>
            </a:r>
          </a:p>
          <a:p>
            <a:r>
              <a:t>  BIC = -98.18</a:t>
            </a:r>
          </a:p>
          <a:p>
            <a:endParaRPr/>
          </a:p>
          <a:p>
            <a:r>
              <a:t>  Likelihood ratio test vs. linear: p = 0.113084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LIP-V1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0.2080</a:t>
            </a:r>
          </a:p>
          <a:p>
            <a:r>
              <a:t>  F(1, 25) = 6.5656</a:t>
            </a:r>
          </a:p>
          <a:p>
            <a:r>
              <a:t>  p-value = 0.016805 *</a:t>
            </a:r>
          </a:p>
          <a:p>
            <a:r>
              <a:t>  y = -0.0190x + 0.3749</a:t>
            </a:r>
          </a:p>
          <a:p>
            <a:r>
              <a:t>  AIC = -78.01</a:t>
            </a:r>
          </a:p>
          <a:p>
            <a:r>
              <a:t>  BIC = -75.42</a:t>
            </a:r>
          </a:p>
          <a:p>
            <a:endParaRPr/>
          </a:p>
          <a:p>
            <a:r>
              <a:t>QUADRATIC MODEL:</a:t>
            </a:r>
          </a:p>
          <a:p>
            <a:r>
              <a:t>  R² = 0.2110</a:t>
            </a:r>
          </a:p>
          <a:p>
            <a:r>
              <a:t>  F(2, 24) = 3.2084</a:t>
            </a:r>
          </a:p>
          <a:p>
            <a:r>
              <a:t>  p-value = 0.058233</a:t>
            </a:r>
          </a:p>
          <a:p>
            <a:r>
              <a:t>  y = -0.000410x² + -0.0100x + 0.3483</a:t>
            </a:r>
          </a:p>
          <a:p>
            <a:r>
              <a:t>  AIC = -76.11</a:t>
            </a:r>
          </a:p>
          <a:p>
            <a:r>
              <a:t>  BIC = -72.23</a:t>
            </a:r>
          </a:p>
          <a:p>
            <a:endParaRPr/>
          </a:p>
          <a:p>
            <a:r>
              <a:t>  Likelihood ratio test vs. linear: p = 0.750341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significant model (by R²): LINEAR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LIP-MST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0.1673</a:t>
            </a:r>
          </a:p>
          <a:p>
            <a:r>
              <a:t>  F(1, 25) = 5.0222</a:t>
            </a:r>
          </a:p>
          <a:p>
            <a:r>
              <a:t>  p-value = 0.034147 *</a:t>
            </a:r>
          </a:p>
          <a:p>
            <a:r>
              <a:t>  y = -0.0110x + 0.6746</a:t>
            </a:r>
          </a:p>
          <a:p>
            <a:r>
              <a:t>  AIC = -100.49</a:t>
            </a:r>
          </a:p>
          <a:p>
            <a:r>
              <a:t>  BIC = -97.90</a:t>
            </a:r>
          </a:p>
          <a:p>
            <a:endParaRPr/>
          </a:p>
          <a:p>
            <a:r>
              <a:t>QUADRATIC MODEL:</a:t>
            </a:r>
          </a:p>
          <a:p>
            <a:r>
              <a:t>  R² = 0.2060</a:t>
            </a:r>
          </a:p>
          <a:p>
            <a:r>
              <a:t>  F(2, 24) = 3.1131</a:t>
            </a:r>
          </a:p>
          <a:p>
            <a:r>
              <a:t>  p-value = 0.062794</a:t>
            </a:r>
          </a:p>
          <a:p>
            <a:r>
              <a:t>  y = 0.000953x² + -0.0319x + 0.7366</a:t>
            </a:r>
          </a:p>
          <a:p>
            <a:r>
              <a:t>  AIC = -99.78</a:t>
            </a:r>
          </a:p>
          <a:p>
            <a:r>
              <a:t>  BIC = -95.89</a:t>
            </a:r>
          </a:p>
          <a:p>
            <a:endParaRPr/>
          </a:p>
          <a:p>
            <a:r>
              <a:t>  Likelihood ratio test vs. linear: p = 0.256951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significant model (by R²): LINEAR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FST-LIP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0.0330</a:t>
            </a:r>
          </a:p>
          <a:p>
            <a:r>
              <a:t>  F(1, 25) = 0.8531</a:t>
            </a:r>
          </a:p>
          <a:p>
            <a:r>
              <a:t>  p-value = 0.364503</a:t>
            </a:r>
          </a:p>
          <a:p>
            <a:r>
              <a:t>  y = 0.0062x + 0.2664</a:t>
            </a:r>
          </a:p>
          <a:p>
            <a:r>
              <a:t>  AIC = -83.88</a:t>
            </a:r>
          </a:p>
          <a:p>
            <a:r>
              <a:t>  BIC = -81.29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0.0633</a:t>
            </a:r>
          </a:p>
          <a:p>
            <a:r>
              <a:t>  F(2, 24) = 0.8113</a:t>
            </a:r>
          </a:p>
          <a:p>
            <a:r>
              <a:t>  p-value = 0.456094</a:t>
            </a:r>
          </a:p>
          <a:p>
            <a:r>
              <a:t>  y = -0.001064x² + 0.0296x + 0.1971</a:t>
            </a:r>
          </a:p>
          <a:p>
            <a:r>
              <a:t>  AIC = -82.74</a:t>
            </a:r>
          </a:p>
          <a:p>
            <a:r>
              <a:t>  BIC = -78.86</a:t>
            </a:r>
          </a:p>
          <a:p>
            <a:endParaRPr/>
          </a:p>
          <a:p>
            <a:r>
              <a:t>  Likelihood ratio test vs. linear: p = 0.353631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FST-FEF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0.0642</a:t>
            </a:r>
          </a:p>
          <a:p>
            <a:r>
              <a:t>  F(1, 25) = 1.7161</a:t>
            </a:r>
          </a:p>
          <a:p>
            <a:r>
              <a:t>  p-value = 0.202102</a:t>
            </a:r>
          </a:p>
          <a:p>
            <a:r>
              <a:t>  y = 0.0078x + 0.1597</a:t>
            </a:r>
          </a:p>
          <a:p>
            <a:r>
              <a:t>  AIC = -89.70</a:t>
            </a:r>
          </a:p>
          <a:p>
            <a:r>
              <a:t>  BIC = -87.11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0.1533</a:t>
            </a:r>
          </a:p>
          <a:p>
            <a:r>
              <a:t>  F(2, 24) = 2.1725</a:t>
            </a:r>
          </a:p>
          <a:p>
            <a:r>
              <a:t>  p-value = 0.135779</a:t>
            </a:r>
          </a:p>
          <a:p>
            <a:r>
              <a:t>  y = -0.001665x² + 0.0445x + 0.0514</a:t>
            </a:r>
          </a:p>
          <a:p>
            <a:r>
              <a:t>  AIC = -90.40</a:t>
            </a:r>
          </a:p>
          <a:p>
            <a:r>
              <a:t>  BIC = -86.51</a:t>
            </a:r>
          </a:p>
          <a:p>
            <a:endParaRPr/>
          </a:p>
          <a:p>
            <a:r>
              <a:t>  Likelihood ratio test vs. linear: p = 0.100345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QUADRATIC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V4t-LIP</a:t>
            </a:r>
          </a:p>
          <a:p>
            <a:endParaRPr dirty="0"/>
          </a:p>
          <a:p>
            <a:r>
              <a:rPr dirty="0"/>
              <a:t>Sample size: n=27</a:t>
            </a:r>
          </a:p>
          <a:p>
            <a:r>
              <a:rPr dirty="0"/>
              <a:t>(includes both behavioral and imaging-only subjects)</a:t>
            </a:r>
          </a:p>
          <a:p>
            <a:endParaRPr dirty="0"/>
          </a:p>
          <a:p>
            <a:r>
              <a:rPr dirty="0"/>
              <a:t>LINEAR MODEL:</a:t>
            </a:r>
          </a:p>
          <a:p>
            <a:r>
              <a:rPr dirty="0"/>
              <a:t>  R² = 0.0709</a:t>
            </a:r>
          </a:p>
          <a:p>
            <a:r>
              <a:rPr dirty="0"/>
              <a:t>  F(1, 25) = 1.9072</a:t>
            </a:r>
          </a:p>
          <a:p>
            <a:r>
              <a:rPr dirty="0"/>
              <a:t>  p-value = 0.179492</a:t>
            </a:r>
          </a:p>
          <a:p>
            <a:r>
              <a:rPr dirty="0"/>
              <a:t>  y = -0.0092x + 0.4295</a:t>
            </a:r>
          </a:p>
          <a:p>
            <a:r>
              <a:rPr dirty="0"/>
              <a:t>  AIC = -83.87</a:t>
            </a:r>
          </a:p>
          <a:p>
            <a:r>
              <a:rPr dirty="0"/>
              <a:t>  BIC = -81.28</a:t>
            </a:r>
          </a:p>
          <a:p>
            <a:endParaRPr dirty="0"/>
          </a:p>
          <a:p>
            <a:r>
              <a:rPr dirty="0"/>
              <a:t>QUADRATIC MODEL:</a:t>
            </a:r>
          </a:p>
          <a:p>
            <a:r>
              <a:rPr dirty="0"/>
              <a:t>  R² = 0.1086</a:t>
            </a:r>
          </a:p>
          <a:p>
            <a:r>
              <a:rPr dirty="0"/>
              <a:t>  F(2, 24) = 1.4613</a:t>
            </a:r>
          </a:p>
          <a:p>
            <a:r>
              <a:rPr dirty="0"/>
              <a:t>  p-value = 0.251854</a:t>
            </a:r>
          </a:p>
          <a:p>
            <a:r>
              <a:rPr dirty="0"/>
              <a:t>  y = 0.001210x² + -0.0358x + 0.5082</a:t>
            </a:r>
          </a:p>
          <a:p>
            <a:r>
              <a:rPr dirty="0"/>
              <a:t>  AIC = -82.99</a:t>
            </a:r>
          </a:p>
          <a:p>
            <a:r>
              <a:rPr dirty="0"/>
              <a:t>  BIC = -79.10</a:t>
            </a:r>
          </a:p>
          <a:p>
            <a:endParaRPr dirty="0"/>
          </a:p>
          <a:p>
            <a:r>
              <a:rPr dirty="0"/>
              <a:t>  Likelihood ratio test vs. linear: p = 0.290454</a:t>
            </a:r>
          </a:p>
          <a:p>
            <a:r>
              <a:rPr dirty="0"/>
              <a:t>  Pattern: U-shaped (developmental valley)</a:t>
            </a:r>
          </a:p>
          <a:p>
            <a:endParaRPr dirty="0"/>
          </a:p>
          <a:p>
            <a:r>
              <a:rPr dirty="0"/>
              <a:t>MODEL SELECTION:</a:t>
            </a:r>
          </a:p>
          <a:p>
            <a:r>
              <a:rPr dirty="0"/>
              <a:t>  Best model (by AIC): LINEAR</a:t>
            </a:r>
          </a:p>
          <a:p>
            <a:r>
              <a:rPr dirty="0"/>
              <a:t>  Best model (by R²): QUADRATIC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thalamus-dorsal_striatum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0.0733</a:t>
            </a:r>
          </a:p>
          <a:p>
            <a:r>
              <a:t>  F(1, 25) = 1.9783</a:t>
            </a:r>
          </a:p>
          <a:p>
            <a:r>
              <a:t>  p-value = 0.171880</a:t>
            </a:r>
          </a:p>
          <a:p>
            <a:r>
              <a:t>  y = 0.0093x + 0.0514</a:t>
            </a:r>
          </a:p>
          <a:p>
            <a:r>
              <a:t>  AIC = -84.08</a:t>
            </a:r>
          </a:p>
          <a:p>
            <a:r>
              <a:t>  BIC = -81.48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0.0788</a:t>
            </a:r>
          </a:p>
          <a:p>
            <a:r>
              <a:t>  F(2, 24) = 1.0272</a:t>
            </a:r>
          </a:p>
          <a:p>
            <a:r>
              <a:t>  p-value = 0.373226</a:t>
            </a:r>
          </a:p>
          <a:p>
            <a:r>
              <a:t>  y = 0.000462x² + -0.0008x + 0.0815</a:t>
            </a:r>
          </a:p>
          <a:p>
            <a:r>
              <a:t>  AIC = -82.24</a:t>
            </a:r>
          </a:p>
          <a:p>
            <a:r>
              <a:t>  BIC = -78.35</a:t>
            </a:r>
          </a:p>
          <a:p>
            <a:endParaRPr/>
          </a:p>
          <a:p>
            <a:r>
              <a:t>  Likelihood ratio test vs. linear: p = 0.687956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thalamus-nucleus_accumbens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0.1010</a:t>
            </a:r>
          </a:p>
          <a:p>
            <a:r>
              <a:t>  F(1, 25) = 2.8095</a:t>
            </a:r>
          </a:p>
          <a:p>
            <a:r>
              <a:t>  p-value = 0.106171</a:t>
            </a:r>
          </a:p>
          <a:p>
            <a:r>
              <a:t>  y = 0.0084x + -0.0063</a:t>
            </a:r>
          </a:p>
          <a:p>
            <a:r>
              <a:t>  AIC = -99.22</a:t>
            </a:r>
          </a:p>
          <a:p>
            <a:r>
              <a:t>  BIC = -96.62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0.1221</a:t>
            </a:r>
          </a:p>
          <a:p>
            <a:r>
              <a:t>  F(2, 24) = 1.6695</a:t>
            </a:r>
          </a:p>
          <a:p>
            <a:r>
              <a:t>  p-value = 0.209481</a:t>
            </a:r>
          </a:p>
          <a:p>
            <a:r>
              <a:t>  y = -0.000693x² + 0.0237x + -0.0514</a:t>
            </a:r>
          </a:p>
          <a:p>
            <a:r>
              <a:t>  AIC = -97.86</a:t>
            </a:r>
          </a:p>
          <a:p>
            <a:r>
              <a:t>  BIC = -93.97</a:t>
            </a:r>
          </a:p>
          <a:p>
            <a:endParaRPr/>
          </a:p>
          <a:p>
            <a:r>
              <a:t>  Likelihood ratio test vs. linear: p = 0.423175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thalamus-OFC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0.0385</a:t>
            </a:r>
          </a:p>
          <a:p>
            <a:r>
              <a:t>  F(1, 25) = 1.0017</a:t>
            </a:r>
          </a:p>
          <a:p>
            <a:r>
              <a:t>  p-value = 0.326497</a:t>
            </a:r>
          </a:p>
          <a:p>
            <a:r>
              <a:t>  y = 0.0044x + 0.0333</a:t>
            </a:r>
          </a:p>
          <a:p>
            <a:r>
              <a:t>  AIC = -106.42</a:t>
            </a:r>
          </a:p>
          <a:p>
            <a:r>
              <a:t>  BIC = -103.83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0.0551</a:t>
            </a:r>
          </a:p>
          <a:p>
            <a:r>
              <a:t>  F(2, 24) = 0.7003</a:t>
            </a:r>
          </a:p>
          <a:p>
            <a:r>
              <a:t>  p-value = 0.506322</a:t>
            </a:r>
          </a:p>
          <a:p>
            <a:r>
              <a:t>  y = 0.000521x² + -0.0071x + 0.0672</a:t>
            </a:r>
          </a:p>
          <a:p>
            <a:r>
              <a:t>  AIC = -104.89</a:t>
            </a:r>
          </a:p>
          <a:p>
            <a:r>
              <a:t>  BIC = -101.00</a:t>
            </a:r>
          </a:p>
          <a:p>
            <a:endParaRPr/>
          </a:p>
          <a:p>
            <a:r>
              <a:t>  Likelihood ratio test vs. linear: p = 0.492701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dorsal_striatum-nucleus_accumbens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0.0278</a:t>
            </a:r>
          </a:p>
          <a:p>
            <a:r>
              <a:t>  F(1, 25) = 0.7158</a:t>
            </a:r>
          </a:p>
          <a:p>
            <a:r>
              <a:t>  p-value = 0.405558</a:t>
            </a:r>
          </a:p>
          <a:p>
            <a:r>
              <a:t>  y = 0.0043x + 0.1794</a:t>
            </a:r>
          </a:p>
          <a:p>
            <a:r>
              <a:t>  AIC = -98.62</a:t>
            </a:r>
          </a:p>
          <a:p>
            <a:r>
              <a:t>  BIC = -96.03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0.0349</a:t>
            </a:r>
          </a:p>
          <a:p>
            <a:r>
              <a:t>  F(2, 24) = 0.4343</a:t>
            </a:r>
          </a:p>
          <a:p>
            <a:r>
              <a:t>  p-value = 0.652735</a:t>
            </a:r>
          </a:p>
          <a:p>
            <a:r>
              <a:t>  y = 0.000391x² + -0.0043x + 0.2048</a:t>
            </a:r>
          </a:p>
          <a:p>
            <a:r>
              <a:t>  AIC = -96.82</a:t>
            </a:r>
          </a:p>
          <a:p>
            <a:r>
              <a:t>  BIC = -92.93</a:t>
            </a:r>
          </a:p>
          <a:p>
            <a:endParaRPr/>
          </a:p>
          <a:p>
            <a:r>
              <a:t>  Likelihood ratio test vs. linear: p = 0.656639</a:t>
            </a:r>
          </a:p>
          <a:p>
            <a:r>
              <a:t>  Pattern: U-shaped (developmental valley)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dorsal_striatum-OFC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0.1369</a:t>
            </a:r>
          </a:p>
          <a:p>
            <a:r>
              <a:t>  F(1, 25) = 3.9653</a:t>
            </a:r>
          </a:p>
          <a:p>
            <a:r>
              <a:t>  p-value = 0.057482</a:t>
            </a:r>
          </a:p>
          <a:p>
            <a:r>
              <a:t>  y = 0.0174x + 0.0705</a:t>
            </a:r>
          </a:p>
          <a:p>
            <a:r>
              <a:t>  AIC = -69.38</a:t>
            </a:r>
          </a:p>
          <a:p>
            <a:r>
              <a:t>  BIC = -66.79</a:t>
            </a:r>
          </a:p>
          <a:p>
            <a:endParaRPr/>
          </a:p>
          <a:p>
            <a:r>
              <a:t>QUADRATIC MODEL:</a:t>
            </a:r>
          </a:p>
          <a:p>
            <a:r>
              <a:t>  R² = 0.1407</a:t>
            </a:r>
          </a:p>
          <a:p>
            <a:r>
              <a:t>  F(2, 24) = 1.9642</a:t>
            </a:r>
          </a:p>
          <a:p>
            <a:r>
              <a:t>  p-value = 0.162169</a:t>
            </a:r>
          </a:p>
          <a:p>
            <a:r>
              <a:t>  y = -0.000519x² + 0.0288x + 0.0367</a:t>
            </a:r>
          </a:p>
          <a:p>
            <a:r>
              <a:t>  AIC = -67.50</a:t>
            </a:r>
          </a:p>
          <a:p>
            <a:r>
              <a:t>  BIC = -63.61</a:t>
            </a:r>
          </a:p>
          <a:p>
            <a:endParaRPr/>
          </a:p>
          <a:p>
            <a:r>
              <a:t>  Likelihood ratio test vs. linear: p = 0.731201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nucleus_accumbens-OFC</a:t>
            </a:r>
          </a:p>
          <a:p>
            <a:endParaRPr/>
          </a:p>
          <a:p>
            <a:r>
              <a:t>Sample size: n=27</a:t>
            </a:r>
          </a:p>
          <a:p>
            <a:r>
              <a:t>(includes both behavioral and imaging-only subjects)</a:t>
            </a:r>
          </a:p>
          <a:p>
            <a:endParaRPr/>
          </a:p>
          <a:p>
            <a:r>
              <a:t>LINEAR MODEL:</a:t>
            </a:r>
          </a:p>
          <a:p>
            <a:r>
              <a:t>  R² = 0.0455</a:t>
            </a:r>
          </a:p>
          <a:p>
            <a:r>
              <a:t>  F(1, 25) = 1.1927</a:t>
            </a:r>
          </a:p>
          <a:p>
            <a:r>
              <a:t>  p-value = 0.285204</a:t>
            </a:r>
          </a:p>
          <a:p>
            <a:r>
              <a:t>  y = 0.0062x + 0.0743</a:t>
            </a:r>
          </a:p>
          <a:p>
            <a:r>
              <a:t>  AIC = -92.79</a:t>
            </a:r>
          </a:p>
          <a:p>
            <a:r>
              <a:t>  BIC = -90.19</a:t>
            </a:r>
          </a:p>
          <a:p>
            <a:endParaRPr/>
          </a:p>
          <a:p>
            <a:r>
              <a:t>QUADRATIC MODEL:</a:t>
            </a:r>
          </a:p>
          <a:p>
            <a:r>
              <a:t>  R² = 0.0474</a:t>
            </a:r>
          </a:p>
          <a:p>
            <a:r>
              <a:t>  F(2, 24) = 0.5974</a:t>
            </a:r>
          </a:p>
          <a:p>
            <a:r>
              <a:t>  p-value = 0.558212</a:t>
            </a:r>
          </a:p>
          <a:p>
            <a:r>
              <a:t>  y = -0.000227x² + 0.0112x + 0.0595</a:t>
            </a:r>
          </a:p>
          <a:p>
            <a:r>
              <a:t>  AIC = -90.84</a:t>
            </a:r>
          </a:p>
          <a:p>
            <a:r>
              <a:t>  BIC = -86.95</a:t>
            </a:r>
          </a:p>
          <a:p>
            <a:endParaRPr/>
          </a:p>
          <a:p>
            <a:r>
              <a:t>  Likelihood ratio test vs. linear: p = 0.817115</a:t>
            </a:r>
          </a:p>
          <a:p>
            <a:r>
              <a:t>  Pattern: Inverted U-shaped (developmental peak)</a:t>
            </a:r>
          </a:p>
          <a:p>
            <a:endParaRPr/>
          </a:p>
          <a:p>
            <a:r>
              <a:t>MODEL SELECTION:</a:t>
            </a:r>
          </a:p>
          <a:p>
            <a:r>
              <a:t>  Best model (by AIC): LINEAR</a:t>
            </a:r>
          </a:p>
          <a:p>
            <a:r>
              <a:t>  Best model (by R²): QUADRATIC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LIP-FEF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LIP-MT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FEF-V4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LIP-V4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V1-V2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V2-V4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V4-V4t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MT-MST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V4-MT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FEF-V1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FEF-V2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FEF-MT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LIP-V1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LIP-MST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FST-LIP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FST-FEF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V4t-LIP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thalamus-dorsal_striatum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thalamus-nucleus_accumbens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thalamus-OFC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dorsal_striatum-nucleus_accumbens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dorsal_striatum-OFC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Resting-State Connectivity: nucleus_accumbens-OFC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5823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3135</Words>
  <Application>Microsoft Macintosh PowerPoint</Application>
  <PresentationFormat>On-screen Show (4:3)</PresentationFormat>
  <Paragraphs>648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Simona Vaitekunaite</cp:lastModifiedBy>
  <cp:revision>1</cp:revision>
  <dcterms:created xsi:type="dcterms:W3CDTF">2013-01-27T09:14:16Z</dcterms:created>
  <dcterms:modified xsi:type="dcterms:W3CDTF">2025-11-23T15:33:58Z</dcterms:modified>
  <cp:category/>
</cp:coreProperties>
</file>